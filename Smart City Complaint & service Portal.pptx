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6447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120640"/>
            <a:ext cx="822960" cy="1737360"/>
          </a:xfrm>
          <a:prstGeom prst="rect">
            <a:avLst/>
          </a:prstGeom>
          <a:solidFill>
            <a:srgbClr val="123A52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4572000"/>
            <a:ext cx="640080" cy="2286000"/>
          </a:xfrm>
          <a:prstGeom prst="rect">
            <a:avLst/>
          </a:prstGeom>
          <a:solidFill>
            <a:srgbClr val="123A52"/>
          </a:solidFill>
          <a:ln/>
        </p:spPr>
      </p:sp>
      <p:sp>
        <p:nvSpPr>
          <p:cNvPr id="4" name="Shape 2"/>
          <p:cNvSpPr/>
          <p:nvPr/>
        </p:nvSpPr>
        <p:spPr>
          <a:xfrm>
            <a:off x="1463040" y="4937760"/>
            <a:ext cx="502920" cy="1920240"/>
          </a:xfrm>
          <a:prstGeom prst="rect">
            <a:avLst/>
          </a:prstGeom>
          <a:solidFill>
            <a:srgbClr val="123A52"/>
          </a:solidFill>
          <a:ln/>
        </p:spPr>
      </p:sp>
      <p:sp>
        <p:nvSpPr>
          <p:cNvPr id="5" name="Shape 3"/>
          <p:cNvSpPr/>
          <p:nvPr/>
        </p:nvSpPr>
        <p:spPr>
          <a:xfrm>
            <a:off x="9692640" y="4754880"/>
            <a:ext cx="548640" cy="2103120"/>
          </a:xfrm>
          <a:prstGeom prst="rect">
            <a:avLst/>
          </a:prstGeom>
          <a:solidFill>
            <a:srgbClr val="123A52"/>
          </a:solidFill>
          <a:ln/>
        </p:spPr>
      </p:sp>
      <p:sp>
        <p:nvSpPr>
          <p:cNvPr id="6" name="Shape 4"/>
          <p:cNvSpPr/>
          <p:nvPr/>
        </p:nvSpPr>
        <p:spPr>
          <a:xfrm>
            <a:off x="10241280" y="4297680"/>
            <a:ext cx="777240" cy="2560320"/>
          </a:xfrm>
          <a:prstGeom prst="rect">
            <a:avLst/>
          </a:prstGeom>
          <a:solidFill>
            <a:srgbClr val="123A52"/>
          </a:solidFill>
          <a:ln/>
        </p:spPr>
      </p:sp>
      <p:sp>
        <p:nvSpPr>
          <p:cNvPr id="7" name="Shape 5"/>
          <p:cNvSpPr/>
          <p:nvPr/>
        </p:nvSpPr>
        <p:spPr>
          <a:xfrm>
            <a:off x="11018520" y="5029200"/>
            <a:ext cx="594360" cy="1828800"/>
          </a:xfrm>
          <a:prstGeom prst="rect">
            <a:avLst/>
          </a:prstGeom>
          <a:solidFill>
            <a:srgbClr val="123A52"/>
          </a:solidFill>
          <a:ln/>
        </p:spPr>
      </p:sp>
      <p:sp>
        <p:nvSpPr>
          <p:cNvPr id="8" name="Shape 6"/>
          <p:cNvSpPr/>
          <p:nvPr/>
        </p:nvSpPr>
        <p:spPr>
          <a:xfrm>
            <a:off x="11612880" y="5394960"/>
            <a:ext cx="576072" cy="1463040"/>
          </a:xfrm>
          <a:prstGeom prst="rect">
            <a:avLst/>
          </a:prstGeom>
          <a:solidFill>
            <a:srgbClr val="123A52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4709160"/>
            <a:ext cx="109728" cy="146304"/>
          </a:xfrm>
          <a:prstGeom prst="rect">
            <a:avLst/>
          </a:prstGeom>
          <a:solidFill>
            <a:srgbClr val="02C39A">
              <a:alpha val="7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378440" y="4434840"/>
            <a:ext cx="109728" cy="146304"/>
          </a:xfrm>
          <a:prstGeom prst="rect">
            <a:avLst/>
          </a:prstGeom>
          <a:solidFill>
            <a:srgbClr val="02C39A">
              <a:alpha val="7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5093208"/>
            <a:ext cx="109728" cy="146304"/>
          </a:xfrm>
          <a:prstGeom prst="rect">
            <a:avLst/>
          </a:prstGeom>
          <a:solidFill>
            <a:srgbClr val="02C39A">
              <a:alpha val="7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378440" y="4818888"/>
            <a:ext cx="109728" cy="146304"/>
          </a:xfrm>
          <a:prstGeom prst="rect">
            <a:avLst/>
          </a:prstGeom>
          <a:solidFill>
            <a:srgbClr val="02C39A">
              <a:alpha val="7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5477256"/>
            <a:ext cx="109728" cy="146304"/>
          </a:xfrm>
          <a:prstGeom prst="rect">
            <a:avLst/>
          </a:prstGeom>
          <a:solidFill>
            <a:srgbClr val="02C39A">
              <a:alpha val="7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378440" y="5202936"/>
            <a:ext cx="109728" cy="146304"/>
          </a:xfrm>
          <a:prstGeom prst="rect">
            <a:avLst/>
          </a:prstGeom>
          <a:solidFill>
            <a:srgbClr val="02C39A">
              <a:alpha val="7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5861304"/>
            <a:ext cx="109728" cy="146304"/>
          </a:xfrm>
          <a:prstGeom prst="rect">
            <a:avLst/>
          </a:prstGeom>
          <a:solidFill>
            <a:srgbClr val="02C39A">
              <a:alpha val="7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378440" y="5586984"/>
            <a:ext cx="109728" cy="146304"/>
          </a:xfrm>
          <a:prstGeom prst="rect">
            <a:avLst/>
          </a:prstGeom>
          <a:solidFill>
            <a:srgbClr val="02C39A">
              <a:alpha val="7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914400" y="6245352"/>
            <a:ext cx="109728" cy="146304"/>
          </a:xfrm>
          <a:prstGeom prst="rect">
            <a:avLst/>
          </a:prstGeom>
          <a:solidFill>
            <a:srgbClr val="02C39A">
              <a:alpha val="7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0378440" y="5971032"/>
            <a:ext cx="109728" cy="146304"/>
          </a:xfrm>
          <a:prstGeom prst="rect">
            <a:avLst/>
          </a:prstGeom>
          <a:solidFill>
            <a:srgbClr val="02C39A">
              <a:alpha val="7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68580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" y="883310"/>
            <a:ext cx="427939" cy="427939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822960" y="18288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kern="0" spc="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CITY COMPLAINT &amp; SERVICE PORTAL</a:t>
            </a:r>
            <a:endParaRPr lang="en-US" sz="4000" dirty="0"/>
          </a:p>
        </p:txBody>
      </p:sp>
      <p:sp>
        <p:nvSpPr>
          <p:cNvPr id="22" name="Text 19"/>
          <p:cNvSpPr/>
          <p:nvPr/>
        </p:nvSpPr>
        <p:spPr>
          <a:xfrm>
            <a:off x="868680" y="288036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B9D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Web Application for Citizen–Government Service Management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868680" y="3520440"/>
            <a:ext cx="29260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68680" y="3703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  ·   React.js   ·   PostgreSQL   ·   JWT Security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868680" y="4206240"/>
            <a:ext cx="5852160" cy="1691640"/>
          </a:xfrm>
          <a:prstGeom prst="rect">
            <a:avLst/>
          </a:prstGeom>
          <a:solidFill>
            <a:srgbClr val="0F3049"/>
          </a:solidFill>
          <a:ln/>
        </p:spPr>
      </p:sp>
      <p:sp>
        <p:nvSpPr>
          <p:cNvPr id="26" name="Text 23"/>
          <p:cNvSpPr/>
          <p:nvPr/>
        </p:nvSpPr>
        <p:spPr>
          <a:xfrm>
            <a:off x="1097280" y="4315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1097280" y="461772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Mohamed Ibrahim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Abdiwasac Abdulkadir Omar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Muse Ahmed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3931920" y="461772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Zakarie Mohamed Abdi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Hamdi Abdi Adan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C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City Complaint &amp; Service Portal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C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73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Smart City Portal is needed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03520" cy="4572000"/>
          </a:xfrm>
          <a:prstGeom prst="rect">
            <a:avLst/>
          </a:prstGeom>
          <a:solidFill>
            <a:srgbClr val="F3F8F7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874520"/>
            <a:ext cx="548640" cy="548640"/>
          </a:xfrm>
          <a:prstGeom prst="ellipse">
            <a:avLst/>
          </a:prstGeom>
          <a:solidFill>
            <a:srgbClr val="F2C14E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354" y="200619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4767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3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68680" y="2697480"/>
            <a:ext cx="4709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5000"/>
              </a:lnSpc>
              <a:spcAft>
                <a:spcPts val="1600"/>
              </a:spcAft>
              <a:buSzPct val="100000"/>
              <a:buChar char="■"/>
            </a:pPr>
            <a:r>
              <a:rPr lang="en-US" sz="150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have difficulty reporting city problems</a:t>
            </a:r>
            <a:endParaRPr lang="en-US" sz="1500" dirty="0"/>
          </a:p>
          <a:p>
            <a:pPr marL="177800" indent="-177800">
              <a:lnSpc>
                <a:spcPct val="115000"/>
              </a:lnSpc>
              <a:spcAft>
                <a:spcPts val="1600"/>
              </a:spcAft>
              <a:buSzPct val="100000"/>
              <a:buChar char="■"/>
            </a:pPr>
            <a:r>
              <a:rPr lang="en-US" sz="150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between citizens and authorities is limited</a:t>
            </a:r>
            <a:endParaRPr lang="en-US" sz="1500" dirty="0"/>
          </a:p>
          <a:p>
            <a:pPr marL="177800" indent="-177800">
              <a:lnSpc>
                <a:spcPct val="115000"/>
              </a:lnSpc>
              <a:spcAft>
                <a:spcPts val="1600"/>
              </a:spcAft>
              <a:buSzPct val="100000"/>
              <a:buChar char="■"/>
            </a:pPr>
            <a:r>
              <a:rPr lang="en-US" sz="150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cannot easily track complaint progress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035040" y="1600200"/>
            <a:ext cx="5577840" cy="4572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Shape 7"/>
          <p:cNvSpPr/>
          <p:nvPr/>
        </p:nvSpPr>
        <p:spPr>
          <a:xfrm>
            <a:off x="6355080" y="18745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6754" y="200619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40880" y="194767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6355080" y="24688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7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digital platform that connects citizens, departments, and administrators: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355080" y="306324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4808" y="3172968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309067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submit complaints online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6355080" y="384048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4808" y="3950208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386791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 manage and resolve complaints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6355080" y="46177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4808" y="4727448"/>
            <a:ext cx="237744" cy="23774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949440" y="464515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Administrators monitor city services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City Complaint &amp; Service Portal</a:t>
            </a: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73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platform aims to achieve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83864" cy="2148840"/>
          </a:xfrm>
          <a:prstGeom prst="rect">
            <a:avLst/>
          </a:prstGeom>
          <a:solidFill>
            <a:srgbClr val="F3F8F7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34" y="200619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560320"/>
            <a:ext cx="2935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 Submission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92608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online complaint submission for every citizen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52544" y="1600200"/>
            <a:ext cx="3483864" cy="2148840"/>
          </a:xfrm>
          <a:prstGeom prst="rect">
            <a:avLst/>
          </a:prstGeom>
          <a:solidFill>
            <a:srgbClr val="F3F8F7"/>
          </a:solidFill>
          <a:ln/>
        </p:spPr>
      </p:sp>
      <p:sp>
        <p:nvSpPr>
          <p:cNvPr id="10" name="Shape 7"/>
          <p:cNvSpPr/>
          <p:nvPr/>
        </p:nvSpPr>
        <p:spPr>
          <a:xfrm>
            <a:off x="4626864" y="187452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8538" y="200619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26864" y="2560320"/>
            <a:ext cx="2935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Better Communication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626864" y="292608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communication between citizens and departments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56448" y="1600200"/>
            <a:ext cx="3483864" cy="2148840"/>
          </a:xfrm>
          <a:prstGeom prst="rect">
            <a:avLst/>
          </a:prstGeom>
          <a:solidFill>
            <a:srgbClr val="F3F8F7"/>
          </a:solidFill>
          <a:ln/>
        </p:spPr>
      </p:sp>
      <p:sp>
        <p:nvSpPr>
          <p:cNvPr id="15" name="Shape 11"/>
          <p:cNvSpPr/>
          <p:nvPr/>
        </p:nvSpPr>
        <p:spPr>
          <a:xfrm>
            <a:off x="8430768" y="187452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2442" y="200619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30768" y="2560320"/>
            <a:ext cx="2935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Officer Workflow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430768" y="292608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officers to manage complaints assigned to them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069080"/>
            <a:ext cx="3483864" cy="2148840"/>
          </a:xfrm>
          <a:prstGeom prst="rect">
            <a:avLst/>
          </a:prstGeom>
          <a:solidFill>
            <a:srgbClr val="F3F8F7"/>
          </a:solidFill>
          <a:ln/>
        </p:spPr>
      </p:sp>
      <p:sp>
        <p:nvSpPr>
          <p:cNvPr id="20" name="Shape 15"/>
          <p:cNvSpPr/>
          <p:nvPr/>
        </p:nvSpPr>
        <p:spPr>
          <a:xfrm>
            <a:off x="822960" y="43434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4634" y="447507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2960" y="5029200"/>
            <a:ext cx="2935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822960" y="539496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administrators with actionable analytics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52544" y="4069080"/>
            <a:ext cx="3483864" cy="2148840"/>
          </a:xfrm>
          <a:prstGeom prst="rect">
            <a:avLst/>
          </a:prstGeom>
          <a:solidFill>
            <a:srgbClr val="F3F8F7"/>
          </a:solidFill>
          <a:ln/>
        </p:spPr>
      </p:sp>
      <p:sp>
        <p:nvSpPr>
          <p:cNvPr id="25" name="Shape 19"/>
          <p:cNvSpPr/>
          <p:nvPr/>
        </p:nvSpPr>
        <p:spPr>
          <a:xfrm>
            <a:off x="4626864" y="43434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8538" y="4475074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26864" y="5029200"/>
            <a:ext cx="2935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Access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626864" y="539496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the system using JWT authentication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56448" y="4069080"/>
            <a:ext cx="3483864" cy="2148840"/>
          </a:xfrm>
          <a:prstGeom prst="rect">
            <a:avLst/>
          </a:prstGeom>
          <a:solidFill>
            <a:srgbClr val="F3F8F7"/>
          </a:solidFill>
          <a:ln/>
        </p:spPr>
      </p:sp>
      <p:sp>
        <p:nvSpPr>
          <p:cNvPr id="30" name="Shape 23"/>
          <p:cNvSpPr/>
          <p:nvPr/>
        </p:nvSpPr>
        <p:spPr>
          <a:xfrm>
            <a:off x="8430768" y="43434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62442" y="4475074"/>
            <a:ext cx="285293" cy="28529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430768" y="5029200"/>
            <a:ext cx="2935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City Management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430768" y="539496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overall city service management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City Complaint &amp; Service Portal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73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architecture with REST API communication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0" y="1691640"/>
            <a:ext cx="4846320" cy="60350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Shape 3"/>
          <p:cNvSpPr/>
          <p:nvPr/>
        </p:nvSpPr>
        <p:spPr>
          <a:xfrm>
            <a:off x="3767328" y="176479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7056" y="1874520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343400" y="1737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343400" y="200253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4F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· Tailwind CSS · Shadcn UI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080760" y="2295144"/>
            <a:ext cx="0" cy="173736"/>
          </a:xfrm>
          <a:prstGeom prst="line">
            <a:avLst/>
          </a:prstGeom>
          <a:noFill/>
          <a:ln w="19050">
            <a:solidFill>
              <a:srgbClr val="5B7480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3657600" y="2468880"/>
            <a:ext cx="4846320" cy="60350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Shape 8"/>
          <p:cNvSpPr/>
          <p:nvPr/>
        </p:nvSpPr>
        <p:spPr>
          <a:xfrm>
            <a:off x="3767328" y="254203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7056" y="2651760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343400" y="2514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(Axios)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343400" y="277977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4F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requests over JSON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080760" y="3072384"/>
            <a:ext cx="0" cy="173736"/>
          </a:xfrm>
          <a:prstGeom prst="line">
            <a:avLst/>
          </a:prstGeom>
          <a:noFill/>
          <a:ln w="19050">
            <a:solidFill>
              <a:srgbClr val="5B7480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3657600" y="3246120"/>
            <a:ext cx="4846320" cy="60350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Shape 13"/>
          <p:cNvSpPr/>
          <p:nvPr/>
        </p:nvSpPr>
        <p:spPr>
          <a:xfrm>
            <a:off x="3767328" y="331927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7056" y="3429000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343400" y="3291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Layer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4343400" y="355701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4F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@RestController endpoints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6080760" y="3849624"/>
            <a:ext cx="0" cy="173736"/>
          </a:xfrm>
          <a:prstGeom prst="line">
            <a:avLst/>
          </a:prstGeom>
          <a:noFill/>
          <a:ln w="19050">
            <a:solidFill>
              <a:srgbClr val="5B7480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3657600" y="4023360"/>
            <a:ext cx="4846320" cy="60350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3" name="Shape 18"/>
          <p:cNvSpPr/>
          <p:nvPr/>
        </p:nvSpPr>
        <p:spPr>
          <a:xfrm>
            <a:off x="3767328" y="409651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77056" y="4206240"/>
            <a:ext cx="237744" cy="23774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343400" y="4069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4343400" y="433425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4F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&amp; validation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6080760" y="4626864"/>
            <a:ext cx="0" cy="173736"/>
          </a:xfrm>
          <a:prstGeom prst="line">
            <a:avLst/>
          </a:prstGeom>
          <a:noFill/>
          <a:ln w="19050">
            <a:solidFill>
              <a:srgbClr val="5B7480"/>
            </a:solidFill>
            <a:prstDash val="solid"/>
            <a:tailEnd type="triangle"/>
          </a:ln>
        </p:spPr>
      </p:sp>
      <p:sp>
        <p:nvSpPr>
          <p:cNvPr id="28" name="Shape 22"/>
          <p:cNvSpPr/>
          <p:nvPr/>
        </p:nvSpPr>
        <p:spPr>
          <a:xfrm>
            <a:off x="3657600" y="4800600"/>
            <a:ext cx="4846320" cy="60350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9" name="Shape 23"/>
          <p:cNvSpPr/>
          <p:nvPr/>
        </p:nvSpPr>
        <p:spPr>
          <a:xfrm>
            <a:off x="3767328" y="487375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77056" y="4983480"/>
            <a:ext cx="237744" cy="23774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4343400" y="4846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Layer</a:t>
            </a:r>
            <a:endParaRPr lang="en-US" sz="1350" dirty="0"/>
          </a:p>
        </p:txBody>
      </p:sp>
      <p:sp>
        <p:nvSpPr>
          <p:cNvPr id="32" name="Text 25"/>
          <p:cNvSpPr/>
          <p:nvPr/>
        </p:nvSpPr>
        <p:spPr>
          <a:xfrm>
            <a:off x="4343400" y="511149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4F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 / Hibernate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6080760" y="5404104"/>
            <a:ext cx="0" cy="173736"/>
          </a:xfrm>
          <a:prstGeom prst="line">
            <a:avLst/>
          </a:prstGeom>
          <a:noFill/>
          <a:ln w="19050">
            <a:solidFill>
              <a:srgbClr val="5B7480"/>
            </a:solidFill>
            <a:prstDash val="solid"/>
            <a:tailEnd type="triangle"/>
          </a:ln>
        </p:spPr>
      </p:sp>
      <p:sp>
        <p:nvSpPr>
          <p:cNvPr id="34" name="Shape 27"/>
          <p:cNvSpPr/>
          <p:nvPr/>
        </p:nvSpPr>
        <p:spPr>
          <a:xfrm>
            <a:off x="3657600" y="5577840"/>
            <a:ext cx="4846320" cy="603504"/>
          </a:xfrm>
          <a:prstGeom prst="rect">
            <a:avLst/>
          </a:prstGeom>
          <a:solidFill>
            <a:srgbClr val="0B2540"/>
          </a:solidFill>
          <a:ln/>
        </p:spPr>
      </p:sp>
      <p:sp>
        <p:nvSpPr>
          <p:cNvPr id="35" name="Shape 28"/>
          <p:cNvSpPr/>
          <p:nvPr/>
        </p:nvSpPr>
        <p:spPr>
          <a:xfrm>
            <a:off x="3767328" y="565099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77056" y="5760720"/>
            <a:ext cx="237744" cy="237744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4343400" y="5623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Database</a:t>
            </a:r>
            <a:endParaRPr lang="en-US" sz="1350" dirty="0"/>
          </a:p>
        </p:txBody>
      </p:sp>
      <p:sp>
        <p:nvSpPr>
          <p:cNvPr id="38" name="Text 30"/>
          <p:cNvSpPr/>
          <p:nvPr/>
        </p:nvSpPr>
        <p:spPr>
          <a:xfrm>
            <a:off x="4343400" y="588873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4F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relational storage</a:t>
            </a:r>
            <a:endParaRPr lang="en-US" sz="1000" dirty="0"/>
          </a:p>
        </p:txBody>
      </p:sp>
      <p:sp>
        <p:nvSpPr>
          <p:cNvPr id="39" name="Shape 31"/>
          <p:cNvSpPr/>
          <p:nvPr/>
        </p:nvSpPr>
        <p:spPr>
          <a:xfrm>
            <a:off x="548640" y="1691640"/>
            <a:ext cx="2788920" cy="4489704"/>
          </a:xfrm>
          <a:prstGeom prst="rect">
            <a:avLst/>
          </a:prstGeom>
          <a:solidFill>
            <a:srgbClr val="F3F8F7"/>
          </a:solidFill>
          <a:ln/>
        </p:spPr>
      </p:sp>
      <p:sp>
        <p:nvSpPr>
          <p:cNvPr id="40" name="Text 32"/>
          <p:cNvSpPr/>
          <p:nvPr/>
        </p:nvSpPr>
        <p:spPr>
          <a:xfrm>
            <a:off x="777240" y="1874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41" name="Text 33"/>
          <p:cNvSpPr/>
          <p:nvPr/>
        </p:nvSpPr>
        <p:spPr>
          <a:xfrm>
            <a:off x="777240" y="2286000"/>
            <a:ext cx="2377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15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architecture separates concerns cleanly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15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communicates via REST API calls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15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has one responsibility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15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integration via JPA / Hibernate</a:t>
            </a:r>
            <a:endParaRPr lang="en-US" sz="1150" dirty="0"/>
          </a:p>
        </p:txBody>
      </p:sp>
      <p:sp>
        <p:nvSpPr>
          <p:cNvPr id="42" name="Text 3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City Complaint &amp; Service Portal</a:t>
            </a:r>
            <a:endParaRPr lang="en-US" sz="1000" dirty="0"/>
          </a:p>
        </p:txBody>
      </p:sp>
      <p:sp>
        <p:nvSpPr>
          <p:cNvPr id="43" name="Text 3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73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Features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capabilities across the platform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657600" cy="4892040"/>
          </a:xfrm>
          <a:prstGeom prst="rect">
            <a:avLst/>
          </a:prstGeom>
          <a:solidFill>
            <a:srgbClr val="F3F8F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71600"/>
            <a:ext cx="3657600" cy="7772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55648"/>
            <a:ext cx="3657600" cy="39319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517904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1638605"/>
            <a:ext cx="261518" cy="26151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151790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Citizen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22960" y="2377440"/>
            <a:ext cx="310896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0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/ Login</a:t>
            </a:r>
            <a:endParaRPr lang="en-US" sz="1300" dirty="0"/>
          </a:p>
          <a:p>
            <a:pPr marL="152400" indent="-152400">
              <a:lnSpc>
                <a:spcPct val="110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complaints</a:t>
            </a:r>
            <a:endParaRPr lang="en-US" sz="1300" dirty="0"/>
          </a:p>
          <a:p>
            <a:pPr marL="152400" indent="-152400">
              <a:lnSpc>
                <a:spcPct val="110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complaint category</a:t>
            </a:r>
            <a:endParaRPr lang="en-US" sz="1300" dirty="0"/>
          </a:p>
          <a:p>
            <a:pPr marL="152400" indent="-152400">
              <a:lnSpc>
                <a:spcPct val="110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location</a:t>
            </a:r>
            <a:endParaRPr lang="en-US" sz="1300" dirty="0"/>
          </a:p>
          <a:p>
            <a:pPr marL="152400" indent="-152400">
              <a:lnSpc>
                <a:spcPct val="110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complaint priority</a:t>
            </a:r>
            <a:endParaRPr lang="en-US" sz="1300" dirty="0"/>
          </a:p>
          <a:p>
            <a:pPr marL="152400" indent="-152400">
              <a:lnSpc>
                <a:spcPct val="110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complaint status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462272" y="1371600"/>
            <a:ext cx="3657600" cy="4892040"/>
          </a:xfrm>
          <a:prstGeom prst="rect">
            <a:avLst/>
          </a:prstGeom>
          <a:solidFill>
            <a:srgbClr val="F3F8F7"/>
          </a:solidFill>
          <a:ln/>
        </p:spPr>
      </p:sp>
      <p:sp>
        <p:nvSpPr>
          <p:cNvPr id="12" name="Shape 9"/>
          <p:cNvSpPr/>
          <p:nvPr/>
        </p:nvSpPr>
        <p:spPr>
          <a:xfrm>
            <a:off x="4462272" y="1371600"/>
            <a:ext cx="3657600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Shape 10"/>
          <p:cNvSpPr/>
          <p:nvPr/>
        </p:nvSpPr>
        <p:spPr>
          <a:xfrm>
            <a:off x="4462272" y="1755648"/>
            <a:ext cx="3657600" cy="39319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Shape 11"/>
          <p:cNvSpPr/>
          <p:nvPr/>
        </p:nvSpPr>
        <p:spPr>
          <a:xfrm>
            <a:off x="4690872" y="1517904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1573" y="1638605"/>
            <a:ext cx="261518" cy="26151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330952" y="151790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Officer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4736592" y="2377440"/>
            <a:ext cx="310896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0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assigned complaints</a:t>
            </a:r>
            <a:endParaRPr lang="en-US" sz="1300" dirty="0"/>
          </a:p>
          <a:p>
            <a:pPr marL="152400" indent="-152400">
              <a:lnSpc>
                <a:spcPct val="110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complaint details</a:t>
            </a:r>
            <a:endParaRPr lang="en-US" sz="1300" dirty="0"/>
          </a:p>
          <a:p>
            <a:pPr marL="152400" indent="-152400">
              <a:lnSpc>
                <a:spcPct val="110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complaint status</a:t>
            </a:r>
            <a:endParaRPr lang="en-US" sz="1300" dirty="0"/>
          </a:p>
          <a:p>
            <a:pPr marL="152400" indent="-152400">
              <a:lnSpc>
                <a:spcPct val="110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complaint priority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8375904" y="1371600"/>
            <a:ext cx="3657600" cy="4892040"/>
          </a:xfrm>
          <a:prstGeom prst="rect">
            <a:avLst/>
          </a:prstGeom>
          <a:solidFill>
            <a:srgbClr val="F3F8F7"/>
          </a:solidFill>
          <a:ln/>
        </p:spPr>
      </p:sp>
      <p:sp>
        <p:nvSpPr>
          <p:cNvPr id="19" name="Shape 15"/>
          <p:cNvSpPr/>
          <p:nvPr/>
        </p:nvSpPr>
        <p:spPr>
          <a:xfrm>
            <a:off x="8375904" y="1371600"/>
            <a:ext cx="3657600" cy="777240"/>
          </a:xfrm>
          <a:prstGeom prst="rect">
            <a:avLst/>
          </a:prstGeom>
          <a:solidFill>
            <a:srgbClr val="0B2540"/>
          </a:solidFill>
          <a:ln/>
        </p:spPr>
      </p:sp>
      <p:sp>
        <p:nvSpPr>
          <p:cNvPr id="20" name="Shape 16"/>
          <p:cNvSpPr/>
          <p:nvPr/>
        </p:nvSpPr>
        <p:spPr>
          <a:xfrm>
            <a:off x="8375904" y="1755648"/>
            <a:ext cx="3657600" cy="393192"/>
          </a:xfrm>
          <a:prstGeom prst="rect">
            <a:avLst/>
          </a:prstGeom>
          <a:solidFill>
            <a:srgbClr val="0B2540"/>
          </a:solidFill>
          <a:ln/>
        </p:spPr>
      </p:sp>
      <p:sp>
        <p:nvSpPr>
          <p:cNvPr id="21" name="Shape 17"/>
          <p:cNvSpPr/>
          <p:nvPr/>
        </p:nvSpPr>
        <p:spPr>
          <a:xfrm>
            <a:off x="8604504" y="1517904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5205" y="1638605"/>
            <a:ext cx="261518" cy="26151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244584" y="151790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</a:t>
            </a:r>
            <a:endParaRPr lang="en-US" sz="2000" dirty="0"/>
          </a:p>
        </p:txBody>
      </p:sp>
      <p:sp>
        <p:nvSpPr>
          <p:cNvPr id="24" name="Text 19"/>
          <p:cNvSpPr/>
          <p:nvPr/>
        </p:nvSpPr>
        <p:spPr>
          <a:xfrm>
            <a:off x="8650224" y="2377440"/>
            <a:ext cx="310896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0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users</a:t>
            </a:r>
            <a:endParaRPr lang="en-US" sz="1300" dirty="0"/>
          </a:p>
          <a:p>
            <a:pPr marL="152400" indent="-152400">
              <a:lnSpc>
                <a:spcPct val="110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departments</a:t>
            </a:r>
            <a:endParaRPr lang="en-US" sz="1300" dirty="0"/>
          </a:p>
          <a:p>
            <a:pPr marL="152400" indent="-152400">
              <a:lnSpc>
                <a:spcPct val="110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categories</a:t>
            </a:r>
            <a:endParaRPr lang="en-US" sz="1300" dirty="0"/>
          </a:p>
          <a:p>
            <a:pPr marL="152400" indent="-152400">
              <a:lnSpc>
                <a:spcPct val="110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complaints</a:t>
            </a:r>
            <a:endParaRPr lang="en-US" sz="1300" dirty="0"/>
          </a:p>
          <a:p>
            <a:pPr marL="152400" indent="-152400">
              <a:lnSpc>
                <a:spcPct val="110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300" dirty="0"/>
          </a:p>
          <a:p>
            <a:pPr marL="152400" indent="-152400">
              <a:lnSpc>
                <a:spcPct val="110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monitoring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City Complaint &amp; Service Portal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3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 &amp; Security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JWT-based authentication with role-based authorization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5669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69164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Login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108960" y="2258568"/>
            <a:ext cx="0" cy="182880"/>
          </a:xfrm>
          <a:prstGeom prst="line">
            <a:avLst/>
          </a:prstGeom>
          <a:noFill/>
          <a:ln w="19050">
            <a:solidFill>
              <a:srgbClr val="5B748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48640" y="2441448"/>
            <a:ext cx="5120640" cy="5669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2441448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2441448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Credentials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108960" y="3008376"/>
            <a:ext cx="0" cy="182880"/>
          </a:xfrm>
          <a:prstGeom prst="line">
            <a:avLst/>
          </a:prstGeom>
          <a:noFill/>
          <a:ln w="19050">
            <a:solidFill>
              <a:srgbClr val="5B748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48640" y="3191256"/>
            <a:ext cx="5120640" cy="5669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3191256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3191256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JWT Token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108960" y="3758184"/>
            <a:ext cx="0" cy="182880"/>
          </a:xfrm>
          <a:prstGeom prst="line">
            <a:avLst/>
          </a:prstGeom>
          <a:noFill/>
          <a:ln w="19050">
            <a:solidFill>
              <a:srgbClr val="5B748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48640" y="3941064"/>
            <a:ext cx="5120640" cy="5669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3941064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3941064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Stores Token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108960" y="4507992"/>
            <a:ext cx="0" cy="182880"/>
          </a:xfrm>
          <a:prstGeom prst="line">
            <a:avLst/>
          </a:prstGeom>
          <a:noFill/>
          <a:ln w="19050">
            <a:solidFill>
              <a:srgbClr val="5B748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48640" y="4690872"/>
            <a:ext cx="5120640" cy="5669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" y="4690872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4690872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Sent With Requests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172200" y="1691640"/>
            <a:ext cx="5440680" cy="2331720"/>
          </a:xfrm>
          <a:prstGeom prst="rect">
            <a:avLst/>
          </a:prstGeom>
          <a:solidFill>
            <a:srgbClr val="F3F8F7"/>
          </a:solidFill>
          <a:ln/>
        </p:spPr>
      </p:sp>
      <p:sp>
        <p:nvSpPr>
          <p:cNvPr id="24" name="Text 22"/>
          <p:cNvSpPr/>
          <p:nvPr/>
        </p:nvSpPr>
        <p:spPr>
          <a:xfrm>
            <a:off x="6446520" y="18470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Features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46520" y="233172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8692" y="2423892"/>
            <a:ext cx="199705" cy="199705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6949440" y="233172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 encryption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446520" y="278892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8692" y="2881092"/>
            <a:ext cx="199705" cy="199705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6949440" y="278892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6446520" y="324612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8692" y="3338292"/>
            <a:ext cx="199705" cy="199705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949440" y="324612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300" dirty="0"/>
          </a:p>
        </p:txBody>
      </p:sp>
      <p:sp>
        <p:nvSpPr>
          <p:cNvPr id="34" name="Shape 29"/>
          <p:cNvSpPr/>
          <p:nvPr/>
        </p:nvSpPr>
        <p:spPr>
          <a:xfrm>
            <a:off x="6446520" y="370332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8692" y="3795492"/>
            <a:ext cx="199705" cy="199705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949440" y="370332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authorization</a:t>
            </a:r>
            <a:endParaRPr lang="en-US" sz="1300" dirty="0"/>
          </a:p>
        </p:txBody>
      </p:sp>
      <p:sp>
        <p:nvSpPr>
          <p:cNvPr id="37" name="Shape 31"/>
          <p:cNvSpPr/>
          <p:nvPr/>
        </p:nvSpPr>
        <p:spPr>
          <a:xfrm>
            <a:off x="6172200" y="4206240"/>
            <a:ext cx="5440680" cy="2148840"/>
          </a:xfrm>
          <a:prstGeom prst="rect">
            <a:avLst/>
          </a:prstGeom>
          <a:solidFill>
            <a:srgbClr val="0B2540"/>
          </a:solidFill>
          <a:ln/>
        </p:spPr>
      </p:sp>
      <p:sp>
        <p:nvSpPr>
          <p:cNvPr id="38" name="Text 32"/>
          <p:cNvSpPr/>
          <p:nvPr/>
        </p:nvSpPr>
        <p:spPr>
          <a:xfrm>
            <a:off x="6446520" y="43616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</a:t>
            </a:r>
            <a:endParaRPr lang="en-US" sz="1600" dirty="0"/>
          </a:p>
        </p:txBody>
      </p:sp>
      <p:sp>
        <p:nvSpPr>
          <p:cNvPr id="39" name="Shape 33"/>
          <p:cNvSpPr/>
          <p:nvPr/>
        </p:nvSpPr>
        <p:spPr>
          <a:xfrm>
            <a:off x="6446520" y="4892040"/>
            <a:ext cx="1920240" cy="438912"/>
          </a:xfrm>
          <a:prstGeom prst="roundRect">
            <a:avLst>
              <a:gd name="adj" fmla="val 16667"/>
            </a:avLst>
          </a:prstGeom>
          <a:solidFill>
            <a:srgbClr val="00A896"/>
          </a:solidFill>
          <a:ln/>
        </p:spPr>
      </p:sp>
      <p:sp>
        <p:nvSpPr>
          <p:cNvPr id="40" name="Text 34"/>
          <p:cNvSpPr/>
          <p:nvPr/>
        </p:nvSpPr>
        <p:spPr>
          <a:xfrm>
            <a:off x="6446520" y="489204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</a:t>
            </a:r>
            <a:endParaRPr lang="en-US" sz="1300" dirty="0"/>
          </a:p>
        </p:txBody>
      </p:sp>
      <p:sp>
        <p:nvSpPr>
          <p:cNvPr id="41" name="Shape 35"/>
          <p:cNvSpPr/>
          <p:nvPr/>
        </p:nvSpPr>
        <p:spPr>
          <a:xfrm>
            <a:off x="6446520" y="5422392"/>
            <a:ext cx="1920240" cy="438912"/>
          </a:xfrm>
          <a:prstGeom prst="roundRect">
            <a:avLst>
              <a:gd name="adj" fmla="val 16667"/>
            </a:avLst>
          </a:prstGeom>
          <a:solidFill>
            <a:srgbClr val="02C39A"/>
          </a:solidFill>
          <a:ln/>
        </p:spPr>
      </p:sp>
      <p:sp>
        <p:nvSpPr>
          <p:cNvPr id="42" name="Text 36"/>
          <p:cNvSpPr/>
          <p:nvPr/>
        </p:nvSpPr>
        <p:spPr>
          <a:xfrm>
            <a:off x="6446520" y="542239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</a:t>
            </a:r>
            <a:endParaRPr lang="en-US" sz="1300" dirty="0"/>
          </a:p>
        </p:txBody>
      </p:sp>
      <p:sp>
        <p:nvSpPr>
          <p:cNvPr id="43" name="Shape 37"/>
          <p:cNvSpPr/>
          <p:nvPr/>
        </p:nvSpPr>
        <p:spPr>
          <a:xfrm>
            <a:off x="6446520" y="5952744"/>
            <a:ext cx="1920240" cy="438912"/>
          </a:xfrm>
          <a:prstGeom prst="roundRect">
            <a:avLst>
              <a:gd name="adj" fmla="val 16667"/>
            </a:avLst>
          </a:prstGeom>
          <a:solidFill>
            <a:srgbClr val="F2C14E"/>
          </a:solidFill>
          <a:ln/>
        </p:spPr>
      </p:sp>
      <p:sp>
        <p:nvSpPr>
          <p:cNvPr id="44" name="Text 38"/>
          <p:cNvSpPr/>
          <p:nvPr/>
        </p:nvSpPr>
        <p:spPr>
          <a:xfrm>
            <a:off x="6446520" y="5952744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300" dirty="0"/>
          </a:p>
        </p:txBody>
      </p:sp>
      <p:sp>
        <p:nvSpPr>
          <p:cNvPr id="45" name="Text 3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City Complaint &amp; Service Portal</a:t>
            </a:r>
            <a:endParaRPr lang="en-US" sz="1000" dirty="0"/>
          </a:p>
        </p:txBody>
      </p:sp>
      <p:sp>
        <p:nvSpPr>
          <p:cNvPr id="46" name="Text 4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3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relationships across four core tables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33172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4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08760"/>
            <a:ext cx="2331720" cy="3657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691640"/>
            <a:ext cx="2331720" cy="1828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087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85800" y="213055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fullName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5800" y="2386584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85800" y="2642616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85800" y="289864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4434840"/>
            <a:ext cx="2331720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4E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434840"/>
            <a:ext cx="2331720" cy="3657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4617720"/>
            <a:ext cx="2331720" cy="1828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4348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" y="480060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85800" y="505663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85800" y="5312664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235440" y="1508760"/>
            <a:ext cx="2377440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4E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35440" y="1508760"/>
            <a:ext cx="2377440" cy="3657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2" name="Shape 20"/>
          <p:cNvSpPr/>
          <p:nvPr/>
        </p:nvSpPr>
        <p:spPr>
          <a:xfrm>
            <a:off x="9235440" y="1691640"/>
            <a:ext cx="2377440" cy="1828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3" name="Text 21"/>
          <p:cNvSpPr/>
          <p:nvPr/>
        </p:nvSpPr>
        <p:spPr>
          <a:xfrm>
            <a:off x="9235440" y="1508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372600" y="18745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372600" y="213055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372600" y="238658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480560" y="1417320"/>
            <a:ext cx="2743200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4E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80560" y="1417320"/>
            <a:ext cx="2743200" cy="365760"/>
          </a:xfrm>
          <a:prstGeom prst="rect">
            <a:avLst/>
          </a:prstGeom>
          <a:solidFill>
            <a:srgbClr val="0B2540"/>
          </a:solidFill>
          <a:ln/>
        </p:spPr>
      </p:sp>
      <p:sp>
        <p:nvSpPr>
          <p:cNvPr id="29" name="Shape 27"/>
          <p:cNvSpPr/>
          <p:nvPr/>
        </p:nvSpPr>
        <p:spPr>
          <a:xfrm>
            <a:off x="4480560" y="1600200"/>
            <a:ext cx="2743200" cy="182880"/>
          </a:xfrm>
          <a:prstGeom prst="rect">
            <a:avLst/>
          </a:prstGeom>
          <a:solidFill>
            <a:srgbClr val="0B2540"/>
          </a:solidFill>
          <a:ln/>
        </p:spPr>
      </p:sp>
      <p:sp>
        <p:nvSpPr>
          <p:cNvPr id="30" name="Text 28"/>
          <p:cNvSpPr/>
          <p:nvPr/>
        </p:nvSpPr>
        <p:spPr>
          <a:xfrm>
            <a:off x="4480560" y="1417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617720" y="17830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617720" y="20391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617720" y="229514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617720" y="255117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617720" y="280720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617720" y="30632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617720" y="33192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createdAt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617720" y="357530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(FK)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617720" y="383133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category_id (FK)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617720" y="40873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department_id (FK)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880360" y="2377440"/>
            <a:ext cx="1600200" cy="0"/>
          </a:xfrm>
          <a:prstGeom prst="line">
            <a:avLst/>
          </a:prstGeom>
          <a:noFill/>
          <a:ln w="19050">
            <a:solidFill>
              <a:srgbClr val="5B748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3063240" y="20848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*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223760" y="2377440"/>
            <a:ext cx="2011680" cy="0"/>
          </a:xfrm>
          <a:prstGeom prst="line">
            <a:avLst/>
          </a:prstGeom>
          <a:noFill/>
          <a:ln w="19050">
            <a:solidFill>
              <a:srgbClr val="5B7480"/>
            </a:solidFill>
            <a:prstDash val="dash"/>
          </a:ln>
        </p:spPr>
      </p:sp>
      <p:sp>
        <p:nvSpPr>
          <p:cNvPr id="44" name="Text 42"/>
          <p:cNvSpPr/>
          <p:nvPr/>
        </p:nvSpPr>
        <p:spPr>
          <a:xfrm>
            <a:off x="7680960" y="20848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: 1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1709928" y="3429000"/>
            <a:ext cx="0" cy="1005840"/>
          </a:xfrm>
          <a:prstGeom prst="line">
            <a:avLst/>
          </a:prstGeom>
          <a:noFill/>
          <a:ln w="19050">
            <a:solidFill>
              <a:srgbClr val="5B7480"/>
            </a:solidFill>
            <a:prstDash val="dash"/>
          </a:ln>
        </p:spPr>
      </p:sp>
      <p:sp>
        <p:nvSpPr>
          <p:cNvPr id="46" name="Shape 44"/>
          <p:cNvSpPr/>
          <p:nvPr/>
        </p:nvSpPr>
        <p:spPr>
          <a:xfrm>
            <a:off x="1709928" y="3429000"/>
            <a:ext cx="4142232" cy="0"/>
          </a:xfrm>
          <a:prstGeom prst="line">
            <a:avLst/>
          </a:prstGeom>
          <a:noFill/>
          <a:ln w="19050">
            <a:solidFill>
              <a:srgbClr val="5B7480"/>
            </a:solidFill>
            <a:prstDash val="dash"/>
          </a:ln>
        </p:spPr>
      </p:sp>
      <p:sp>
        <p:nvSpPr>
          <p:cNvPr id="47" name="Shape 45"/>
          <p:cNvSpPr/>
          <p:nvPr/>
        </p:nvSpPr>
        <p:spPr>
          <a:xfrm>
            <a:off x="5852160" y="3429000"/>
            <a:ext cx="0" cy="914400"/>
          </a:xfrm>
          <a:prstGeom prst="line">
            <a:avLst/>
          </a:prstGeom>
          <a:noFill/>
          <a:ln w="19050">
            <a:solidFill>
              <a:srgbClr val="5B7480"/>
            </a:solidFill>
            <a:prstDash val="dash"/>
          </a:ln>
        </p:spPr>
      </p:sp>
      <p:sp>
        <p:nvSpPr>
          <p:cNvPr id="48" name="Text 46"/>
          <p:cNvSpPr/>
          <p:nvPr/>
        </p:nvSpPr>
        <p:spPr>
          <a:xfrm>
            <a:off x="1801368" y="3794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*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City Complaint &amp; Service Portal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3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structure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look at the interface across roles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828800"/>
            <a:ext cx="21488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4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28800"/>
            <a:ext cx="2148840" cy="274320"/>
          </a:xfrm>
          <a:prstGeom prst="rect">
            <a:avLst/>
          </a:prstGeom>
          <a:solidFill>
            <a:srgbClr val="2A2F36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965960"/>
            <a:ext cx="2148840" cy="137160"/>
          </a:xfrm>
          <a:prstGeom prst="rect">
            <a:avLst/>
          </a:prstGeom>
          <a:solidFill>
            <a:srgbClr val="2A2F36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1911096"/>
            <a:ext cx="91440" cy="91440"/>
          </a:xfrm>
          <a:prstGeom prst="ellipse">
            <a:avLst/>
          </a:prstGeom>
          <a:solidFill>
            <a:srgbClr val="E5533D"/>
          </a:solidFill>
          <a:ln/>
        </p:spPr>
      </p:sp>
      <p:sp>
        <p:nvSpPr>
          <p:cNvPr id="8" name="Shape 6"/>
          <p:cNvSpPr/>
          <p:nvPr/>
        </p:nvSpPr>
        <p:spPr>
          <a:xfrm>
            <a:off x="557784" y="1911096"/>
            <a:ext cx="91440" cy="91440"/>
          </a:xfrm>
          <a:prstGeom prst="ellipse">
            <a:avLst/>
          </a:prstGeom>
          <a:solidFill>
            <a:srgbClr val="E8B02A"/>
          </a:solidFill>
          <a:ln/>
        </p:spPr>
      </p:sp>
      <p:sp>
        <p:nvSpPr>
          <p:cNvPr id="9" name="Shape 7"/>
          <p:cNvSpPr/>
          <p:nvPr/>
        </p:nvSpPr>
        <p:spPr>
          <a:xfrm>
            <a:off x="704088" y="1911096"/>
            <a:ext cx="91440" cy="91440"/>
          </a:xfrm>
          <a:prstGeom prst="ellipse">
            <a:avLst/>
          </a:prstGeom>
          <a:solidFill>
            <a:srgbClr val="2DA44E"/>
          </a:solidFill>
          <a:ln/>
        </p:spPr>
      </p:sp>
      <p:sp>
        <p:nvSpPr>
          <p:cNvPr id="10" name="Shape 8"/>
          <p:cNvSpPr/>
          <p:nvPr/>
        </p:nvSpPr>
        <p:spPr>
          <a:xfrm>
            <a:off x="429768" y="2231136"/>
            <a:ext cx="1929384" cy="29260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Shape 9"/>
          <p:cNvSpPr/>
          <p:nvPr/>
        </p:nvSpPr>
        <p:spPr>
          <a:xfrm>
            <a:off x="429768" y="2651760"/>
            <a:ext cx="1929384" cy="146304"/>
          </a:xfrm>
          <a:prstGeom prst="rect">
            <a:avLst/>
          </a:prstGeom>
          <a:solidFill>
            <a:srgbClr val="F3F8F7"/>
          </a:solidFill>
          <a:ln w="9525">
            <a:solidFill>
              <a:srgbClr val="D7E4E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" y="2907792"/>
            <a:ext cx="1929384" cy="146304"/>
          </a:xfrm>
          <a:prstGeom prst="rect">
            <a:avLst/>
          </a:prstGeom>
          <a:solidFill>
            <a:srgbClr val="F3F8F7"/>
          </a:solidFill>
          <a:ln w="9525">
            <a:solidFill>
              <a:srgbClr val="D7E4E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" y="3163824"/>
            <a:ext cx="1061161" cy="146304"/>
          </a:xfrm>
          <a:prstGeom prst="rect">
            <a:avLst/>
          </a:prstGeom>
          <a:solidFill>
            <a:srgbClr val="F3F8F7"/>
          </a:solidFill>
          <a:ln w="9525">
            <a:solidFill>
              <a:srgbClr val="D7E4E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65376" y="3730752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5104" y="3840480"/>
            <a:ext cx="237744" cy="23774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29768" y="38404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2670048" y="1828800"/>
            <a:ext cx="21488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4E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670048" y="1828800"/>
            <a:ext cx="2148840" cy="274320"/>
          </a:xfrm>
          <a:prstGeom prst="rect">
            <a:avLst/>
          </a:prstGeom>
          <a:solidFill>
            <a:srgbClr val="2A2F36"/>
          </a:solidFill>
          <a:ln/>
        </p:spPr>
      </p:sp>
      <p:sp>
        <p:nvSpPr>
          <p:cNvPr id="19" name="Shape 16"/>
          <p:cNvSpPr/>
          <p:nvPr/>
        </p:nvSpPr>
        <p:spPr>
          <a:xfrm>
            <a:off x="2670048" y="1965960"/>
            <a:ext cx="2148840" cy="137160"/>
          </a:xfrm>
          <a:prstGeom prst="rect">
            <a:avLst/>
          </a:prstGeom>
          <a:solidFill>
            <a:srgbClr val="2A2F36"/>
          </a:solidFill>
          <a:ln/>
        </p:spPr>
      </p:sp>
      <p:sp>
        <p:nvSpPr>
          <p:cNvPr id="20" name="Shape 17"/>
          <p:cNvSpPr/>
          <p:nvPr/>
        </p:nvSpPr>
        <p:spPr>
          <a:xfrm>
            <a:off x="2761488" y="1911096"/>
            <a:ext cx="91440" cy="91440"/>
          </a:xfrm>
          <a:prstGeom prst="ellipse">
            <a:avLst/>
          </a:prstGeom>
          <a:solidFill>
            <a:srgbClr val="E5533D"/>
          </a:solidFill>
          <a:ln/>
        </p:spPr>
      </p:sp>
      <p:sp>
        <p:nvSpPr>
          <p:cNvPr id="21" name="Shape 18"/>
          <p:cNvSpPr/>
          <p:nvPr/>
        </p:nvSpPr>
        <p:spPr>
          <a:xfrm>
            <a:off x="2907792" y="1911096"/>
            <a:ext cx="91440" cy="91440"/>
          </a:xfrm>
          <a:prstGeom prst="ellipse">
            <a:avLst/>
          </a:prstGeom>
          <a:solidFill>
            <a:srgbClr val="E8B02A"/>
          </a:solidFill>
          <a:ln/>
        </p:spPr>
      </p:sp>
      <p:sp>
        <p:nvSpPr>
          <p:cNvPr id="22" name="Shape 19"/>
          <p:cNvSpPr/>
          <p:nvPr/>
        </p:nvSpPr>
        <p:spPr>
          <a:xfrm>
            <a:off x="3054096" y="1911096"/>
            <a:ext cx="91440" cy="91440"/>
          </a:xfrm>
          <a:prstGeom prst="ellipse">
            <a:avLst/>
          </a:prstGeom>
          <a:solidFill>
            <a:srgbClr val="2DA44E"/>
          </a:solidFill>
          <a:ln/>
        </p:spPr>
      </p:sp>
      <p:sp>
        <p:nvSpPr>
          <p:cNvPr id="23" name="Shape 20"/>
          <p:cNvSpPr/>
          <p:nvPr/>
        </p:nvSpPr>
        <p:spPr>
          <a:xfrm>
            <a:off x="2779776" y="2231136"/>
            <a:ext cx="1929384" cy="2926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4" name="Shape 21"/>
          <p:cNvSpPr/>
          <p:nvPr/>
        </p:nvSpPr>
        <p:spPr>
          <a:xfrm>
            <a:off x="2779776" y="2651760"/>
            <a:ext cx="1929384" cy="146304"/>
          </a:xfrm>
          <a:prstGeom prst="rect">
            <a:avLst/>
          </a:prstGeom>
          <a:solidFill>
            <a:srgbClr val="F3F8F7"/>
          </a:solidFill>
          <a:ln w="9525">
            <a:solidFill>
              <a:srgbClr val="D7E4E2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779776" y="2907792"/>
            <a:ext cx="1929384" cy="146304"/>
          </a:xfrm>
          <a:prstGeom prst="rect">
            <a:avLst/>
          </a:prstGeom>
          <a:solidFill>
            <a:srgbClr val="F3F8F7"/>
          </a:solidFill>
          <a:ln w="9525">
            <a:solidFill>
              <a:srgbClr val="D7E4E2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779776" y="3163824"/>
            <a:ext cx="1061161" cy="146304"/>
          </a:xfrm>
          <a:prstGeom prst="rect">
            <a:avLst/>
          </a:prstGeom>
          <a:solidFill>
            <a:srgbClr val="F3F8F7"/>
          </a:solidFill>
          <a:ln w="9525">
            <a:solidFill>
              <a:srgbClr val="D7E4E2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215384" y="373075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5112" y="3840480"/>
            <a:ext cx="237744" cy="237744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2779776" y="38404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/ Login</a:t>
            </a:r>
            <a:endParaRPr lang="en-US" sz="1250" dirty="0"/>
          </a:p>
        </p:txBody>
      </p:sp>
      <p:sp>
        <p:nvSpPr>
          <p:cNvPr id="30" name="Shape 26"/>
          <p:cNvSpPr/>
          <p:nvPr/>
        </p:nvSpPr>
        <p:spPr>
          <a:xfrm>
            <a:off x="5020056" y="1828800"/>
            <a:ext cx="21488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4E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020056" y="1828800"/>
            <a:ext cx="2148840" cy="274320"/>
          </a:xfrm>
          <a:prstGeom prst="rect">
            <a:avLst/>
          </a:prstGeom>
          <a:solidFill>
            <a:srgbClr val="2A2F36"/>
          </a:solidFill>
          <a:ln/>
        </p:spPr>
      </p:sp>
      <p:sp>
        <p:nvSpPr>
          <p:cNvPr id="32" name="Shape 28"/>
          <p:cNvSpPr/>
          <p:nvPr/>
        </p:nvSpPr>
        <p:spPr>
          <a:xfrm>
            <a:off x="5020056" y="1965960"/>
            <a:ext cx="2148840" cy="137160"/>
          </a:xfrm>
          <a:prstGeom prst="rect">
            <a:avLst/>
          </a:prstGeom>
          <a:solidFill>
            <a:srgbClr val="2A2F36"/>
          </a:solidFill>
          <a:ln/>
        </p:spPr>
      </p:sp>
      <p:sp>
        <p:nvSpPr>
          <p:cNvPr id="33" name="Shape 29"/>
          <p:cNvSpPr/>
          <p:nvPr/>
        </p:nvSpPr>
        <p:spPr>
          <a:xfrm>
            <a:off x="5111496" y="1911096"/>
            <a:ext cx="91440" cy="91440"/>
          </a:xfrm>
          <a:prstGeom prst="ellipse">
            <a:avLst/>
          </a:prstGeom>
          <a:solidFill>
            <a:srgbClr val="E5533D"/>
          </a:solidFill>
          <a:ln/>
        </p:spPr>
      </p:sp>
      <p:sp>
        <p:nvSpPr>
          <p:cNvPr id="34" name="Shape 30"/>
          <p:cNvSpPr/>
          <p:nvPr/>
        </p:nvSpPr>
        <p:spPr>
          <a:xfrm>
            <a:off x="5257800" y="1911096"/>
            <a:ext cx="91440" cy="91440"/>
          </a:xfrm>
          <a:prstGeom prst="ellipse">
            <a:avLst/>
          </a:prstGeom>
          <a:solidFill>
            <a:srgbClr val="E8B02A"/>
          </a:solidFill>
          <a:ln/>
        </p:spPr>
      </p:sp>
      <p:sp>
        <p:nvSpPr>
          <p:cNvPr id="35" name="Shape 31"/>
          <p:cNvSpPr/>
          <p:nvPr/>
        </p:nvSpPr>
        <p:spPr>
          <a:xfrm>
            <a:off x="5404104" y="1911096"/>
            <a:ext cx="91440" cy="91440"/>
          </a:xfrm>
          <a:prstGeom prst="ellipse">
            <a:avLst/>
          </a:prstGeom>
          <a:solidFill>
            <a:srgbClr val="2DA44E"/>
          </a:solidFill>
          <a:ln/>
        </p:spPr>
      </p:sp>
      <p:sp>
        <p:nvSpPr>
          <p:cNvPr id="36" name="Shape 32"/>
          <p:cNvSpPr/>
          <p:nvPr/>
        </p:nvSpPr>
        <p:spPr>
          <a:xfrm>
            <a:off x="5129784" y="2231136"/>
            <a:ext cx="1929384" cy="29260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7" name="Shape 33"/>
          <p:cNvSpPr/>
          <p:nvPr/>
        </p:nvSpPr>
        <p:spPr>
          <a:xfrm>
            <a:off x="5129784" y="2651760"/>
            <a:ext cx="1929384" cy="146304"/>
          </a:xfrm>
          <a:prstGeom prst="rect">
            <a:avLst/>
          </a:prstGeom>
          <a:solidFill>
            <a:srgbClr val="F3F8F7"/>
          </a:solidFill>
          <a:ln w="9525">
            <a:solidFill>
              <a:srgbClr val="D7E4E2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5129784" y="2907792"/>
            <a:ext cx="1929384" cy="146304"/>
          </a:xfrm>
          <a:prstGeom prst="rect">
            <a:avLst/>
          </a:prstGeom>
          <a:solidFill>
            <a:srgbClr val="F3F8F7"/>
          </a:solidFill>
          <a:ln w="9525">
            <a:solidFill>
              <a:srgbClr val="D7E4E2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5129784" y="3163824"/>
            <a:ext cx="1061161" cy="146304"/>
          </a:xfrm>
          <a:prstGeom prst="rect">
            <a:avLst/>
          </a:prstGeom>
          <a:solidFill>
            <a:srgbClr val="F3F8F7"/>
          </a:solidFill>
          <a:ln w="9525">
            <a:solidFill>
              <a:srgbClr val="D7E4E2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6565392" y="3730752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4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3840480"/>
            <a:ext cx="237744" cy="237744"/>
          </a:xfrm>
          <a:prstGeom prst="rect">
            <a:avLst/>
          </a:prstGeom>
        </p:spPr>
      </p:pic>
      <p:sp>
        <p:nvSpPr>
          <p:cNvPr id="42" name="Text 37"/>
          <p:cNvSpPr/>
          <p:nvPr/>
        </p:nvSpPr>
        <p:spPr>
          <a:xfrm>
            <a:off x="5129784" y="38404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Dashboard</a:t>
            </a:r>
            <a:endParaRPr lang="en-US" sz="1250" dirty="0"/>
          </a:p>
        </p:txBody>
      </p:sp>
      <p:sp>
        <p:nvSpPr>
          <p:cNvPr id="43" name="Shape 38"/>
          <p:cNvSpPr/>
          <p:nvPr/>
        </p:nvSpPr>
        <p:spPr>
          <a:xfrm>
            <a:off x="7370064" y="1828800"/>
            <a:ext cx="21488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4E2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7370064" y="1828800"/>
            <a:ext cx="2148840" cy="274320"/>
          </a:xfrm>
          <a:prstGeom prst="rect">
            <a:avLst/>
          </a:prstGeom>
          <a:solidFill>
            <a:srgbClr val="2A2F36"/>
          </a:solidFill>
          <a:ln/>
        </p:spPr>
      </p:sp>
      <p:sp>
        <p:nvSpPr>
          <p:cNvPr id="45" name="Shape 40"/>
          <p:cNvSpPr/>
          <p:nvPr/>
        </p:nvSpPr>
        <p:spPr>
          <a:xfrm>
            <a:off x="7370064" y="1965960"/>
            <a:ext cx="2148840" cy="137160"/>
          </a:xfrm>
          <a:prstGeom prst="rect">
            <a:avLst/>
          </a:prstGeom>
          <a:solidFill>
            <a:srgbClr val="2A2F36"/>
          </a:solidFill>
          <a:ln/>
        </p:spPr>
      </p:sp>
      <p:sp>
        <p:nvSpPr>
          <p:cNvPr id="46" name="Shape 41"/>
          <p:cNvSpPr/>
          <p:nvPr/>
        </p:nvSpPr>
        <p:spPr>
          <a:xfrm>
            <a:off x="7461504" y="1911096"/>
            <a:ext cx="91440" cy="91440"/>
          </a:xfrm>
          <a:prstGeom prst="ellipse">
            <a:avLst/>
          </a:prstGeom>
          <a:solidFill>
            <a:srgbClr val="E5533D"/>
          </a:solidFill>
          <a:ln/>
        </p:spPr>
      </p:sp>
      <p:sp>
        <p:nvSpPr>
          <p:cNvPr id="47" name="Shape 42"/>
          <p:cNvSpPr/>
          <p:nvPr/>
        </p:nvSpPr>
        <p:spPr>
          <a:xfrm>
            <a:off x="7607808" y="1911096"/>
            <a:ext cx="91440" cy="91440"/>
          </a:xfrm>
          <a:prstGeom prst="ellipse">
            <a:avLst/>
          </a:prstGeom>
          <a:solidFill>
            <a:srgbClr val="E8B02A"/>
          </a:solidFill>
          <a:ln/>
        </p:spPr>
      </p:sp>
      <p:sp>
        <p:nvSpPr>
          <p:cNvPr id="48" name="Shape 43"/>
          <p:cNvSpPr/>
          <p:nvPr/>
        </p:nvSpPr>
        <p:spPr>
          <a:xfrm>
            <a:off x="7754112" y="1911096"/>
            <a:ext cx="91440" cy="91440"/>
          </a:xfrm>
          <a:prstGeom prst="ellipse">
            <a:avLst/>
          </a:prstGeom>
          <a:solidFill>
            <a:srgbClr val="2DA44E"/>
          </a:solidFill>
          <a:ln/>
        </p:spPr>
      </p:sp>
      <p:sp>
        <p:nvSpPr>
          <p:cNvPr id="49" name="Shape 44"/>
          <p:cNvSpPr/>
          <p:nvPr/>
        </p:nvSpPr>
        <p:spPr>
          <a:xfrm>
            <a:off x="7479792" y="2231136"/>
            <a:ext cx="1929384" cy="2926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0" name="Shape 45"/>
          <p:cNvSpPr/>
          <p:nvPr/>
        </p:nvSpPr>
        <p:spPr>
          <a:xfrm>
            <a:off x="7479792" y="2651760"/>
            <a:ext cx="1929384" cy="146304"/>
          </a:xfrm>
          <a:prstGeom prst="rect">
            <a:avLst/>
          </a:prstGeom>
          <a:solidFill>
            <a:srgbClr val="F3F8F7"/>
          </a:solidFill>
          <a:ln w="9525">
            <a:solidFill>
              <a:srgbClr val="D7E4E2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7479792" y="2907792"/>
            <a:ext cx="1929384" cy="146304"/>
          </a:xfrm>
          <a:prstGeom prst="rect">
            <a:avLst/>
          </a:prstGeom>
          <a:solidFill>
            <a:srgbClr val="F3F8F7"/>
          </a:solidFill>
          <a:ln w="9525">
            <a:solidFill>
              <a:srgbClr val="D7E4E2"/>
            </a:solidFill>
            <a:prstDash val="solid"/>
          </a:ln>
        </p:spPr>
      </p:sp>
      <p:sp>
        <p:nvSpPr>
          <p:cNvPr id="52" name="Shape 47"/>
          <p:cNvSpPr/>
          <p:nvPr/>
        </p:nvSpPr>
        <p:spPr>
          <a:xfrm>
            <a:off x="7479792" y="3163824"/>
            <a:ext cx="1061161" cy="146304"/>
          </a:xfrm>
          <a:prstGeom prst="rect">
            <a:avLst/>
          </a:prstGeom>
          <a:solidFill>
            <a:srgbClr val="F3F8F7"/>
          </a:solidFill>
          <a:ln w="9525">
            <a:solidFill>
              <a:srgbClr val="D7E4E2"/>
            </a:solidFill>
            <a:prstDash val="solid"/>
          </a:ln>
        </p:spPr>
      </p:sp>
      <p:sp>
        <p:nvSpPr>
          <p:cNvPr id="53" name="Shape 48"/>
          <p:cNvSpPr/>
          <p:nvPr/>
        </p:nvSpPr>
        <p:spPr>
          <a:xfrm>
            <a:off x="8915400" y="373075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25128" y="3840480"/>
            <a:ext cx="237744" cy="237744"/>
          </a:xfrm>
          <a:prstGeom prst="rect">
            <a:avLst/>
          </a:prstGeom>
        </p:spPr>
      </p:pic>
      <p:sp>
        <p:nvSpPr>
          <p:cNvPr id="55" name="Text 49"/>
          <p:cNvSpPr/>
          <p:nvPr/>
        </p:nvSpPr>
        <p:spPr>
          <a:xfrm>
            <a:off x="7479792" y="38404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Dashboard</a:t>
            </a:r>
            <a:endParaRPr lang="en-US" sz="1250" dirty="0"/>
          </a:p>
        </p:txBody>
      </p:sp>
      <p:sp>
        <p:nvSpPr>
          <p:cNvPr id="56" name="Shape 50"/>
          <p:cNvSpPr/>
          <p:nvPr/>
        </p:nvSpPr>
        <p:spPr>
          <a:xfrm>
            <a:off x="9720072" y="1828800"/>
            <a:ext cx="21488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4E2"/>
            </a:solidFill>
            <a:prstDash val="solid"/>
          </a:ln>
        </p:spPr>
      </p:sp>
      <p:sp>
        <p:nvSpPr>
          <p:cNvPr id="57" name="Shape 51"/>
          <p:cNvSpPr/>
          <p:nvPr/>
        </p:nvSpPr>
        <p:spPr>
          <a:xfrm>
            <a:off x="9720072" y="1828800"/>
            <a:ext cx="2148840" cy="274320"/>
          </a:xfrm>
          <a:prstGeom prst="rect">
            <a:avLst/>
          </a:prstGeom>
          <a:solidFill>
            <a:srgbClr val="2A2F36"/>
          </a:solidFill>
          <a:ln/>
        </p:spPr>
      </p:sp>
      <p:sp>
        <p:nvSpPr>
          <p:cNvPr id="58" name="Shape 52"/>
          <p:cNvSpPr/>
          <p:nvPr/>
        </p:nvSpPr>
        <p:spPr>
          <a:xfrm>
            <a:off x="9720072" y="1965960"/>
            <a:ext cx="2148840" cy="137160"/>
          </a:xfrm>
          <a:prstGeom prst="rect">
            <a:avLst/>
          </a:prstGeom>
          <a:solidFill>
            <a:srgbClr val="2A2F36"/>
          </a:solidFill>
          <a:ln/>
        </p:spPr>
      </p:sp>
      <p:sp>
        <p:nvSpPr>
          <p:cNvPr id="59" name="Shape 53"/>
          <p:cNvSpPr/>
          <p:nvPr/>
        </p:nvSpPr>
        <p:spPr>
          <a:xfrm>
            <a:off x="9811512" y="1911096"/>
            <a:ext cx="91440" cy="91440"/>
          </a:xfrm>
          <a:prstGeom prst="ellipse">
            <a:avLst/>
          </a:prstGeom>
          <a:solidFill>
            <a:srgbClr val="E5533D"/>
          </a:solidFill>
          <a:ln/>
        </p:spPr>
      </p:sp>
      <p:sp>
        <p:nvSpPr>
          <p:cNvPr id="60" name="Shape 54"/>
          <p:cNvSpPr/>
          <p:nvPr/>
        </p:nvSpPr>
        <p:spPr>
          <a:xfrm>
            <a:off x="9957816" y="1911096"/>
            <a:ext cx="91440" cy="91440"/>
          </a:xfrm>
          <a:prstGeom prst="ellipse">
            <a:avLst/>
          </a:prstGeom>
          <a:solidFill>
            <a:srgbClr val="E8B02A"/>
          </a:solidFill>
          <a:ln/>
        </p:spPr>
      </p:sp>
      <p:sp>
        <p:nvSpPr>
          <p:cNvPr id="61" name="Shape 55"/>
          <p:cNvSpPr/>
          <p:nvPr/>
        </p:nvSpPr>
        <p:spPr>
          <a:xfrm>
            <a:off x="10104120" y="1911096"/>
            <a:ext cx="91440" cy="91440"/>
          </a:xfrm>
          <a:prstGeom prst="ellipse">
            <a:avLst/>
          </a:prstGeom>
          <a:solidFill>
            <a:srgbClr val="2DA44E"/>
          </a:solidFill>
          <a:ln/>
        </p:spPr>
      </p:sp>
      <p:sp>
        <p:nvSpPr>
          <p:cNvPr id="62" name="Shape 56"/>
          <p:cNvSpPr/>
          <p:nvPr/>
        </p:nvSpPr>
        <p:spPr>
          <a:xfrm>
            <a:off x="9829800" y="2231136"/>
            <a:ext cx="1929384" cy="292608"/>
          </a:xfrm>
          <a:prstGeom prst="rect">
            <a:avLst/>
          </a:prstGeom>
          <a:solidFill>
            <a:srgbClr val="0B2540"/>
          </a:solidFill>
          <a:ln/>
        </p:spPr>
      </p:sp>
      <p:sp>
        <p:nvSpPr>
          <p:cNvPr id="63" name="Shape 57"/>
          <p:cNvSpPr/>
          <p:nvPr/>
        </p:nvSpPr>
        <p:spPr>
          <a:xfrm>
            <a:off x="9829800" y="2651760"/>
            <a:ext cx="1929384" cy="146304"/>
          </a:xfrm>
          <a:prstGeom prst="rect">
            <a:avLst/>
          </a:prstGeom>
          <a:solidFill>
            <a:srgbClr val="F3F8F7"/>
          </a:solidFill>
          <a:ln w="9525">
            <a:solidFill>
              <a:srgbClr val="D7E4E2"/>
            </a:solidFill>
            <a:prstDash val="solid"/>
          </a:ln>
        </p:spPr>
      </p:sp>
      <p:sp>
        <p:nvSpPr>
          <p:cNvPr id="64" name="Shape 58"/>
          <p:cNvSpPr/>
          <p:nvPr/>
        </p:nvSpPr>
        <p:spPr>
          <a:xfrm>
            <a:off x="9829800" y="2907792"/>
            <a:ext cx="1929384" cy="146304"/>
          </a:xfrm>
          <a:prstGeom prst="rect">
            <a:avLst/>
          </a:prstGeom>
          <a:solidFill>
            <a:srgbClr val="F3F8F7"/>
          </a:solidFill>
          <a:ln w="9525">
            <a:solidFill>
              <a:srgbClr val="D7E4E2"/>
            </a:solidFill>
            <a:prstDash val="solid"/>
          </a:ln>
        </p:spPr>
      </p:sp>
      <p:sp>
        <p:nvSpPr>
          <p:cNvPr id="65" name="Shape 59"/>
          <p:cNvSpPr/>
          <p:nvPr/>
        </p:nvSpPr>
        <p:spPr>
          <a:xfrm>
            <a:off x="9829800" y="3163824"/>
            <a:ext cx="1061161" cy="146304"/>
          </a:xfrm>
          <a:prstGeom prst="rect">
            <a:avLst/>
          </a:prstGeom>
          <a:solidFill>
            <a:srgbClr val="F3F8F7"/>
          </a:solidFill>
          <a:ln w="9525">
            <a:solidFill>
              <a:srgbClr val="D7E4E2"/>
            </a:solidFill>
            <a:prstDash val="solid"/>
          </a:ln>
        </p:spPr>
      </p:sp>
      <p:sp>
        <p:nvSpPr>
          <p:cNvPr id="66" name="Shape 60"/>
          <p:cNvSpPr/>
          <p:nvPr/>
        </p:nvSpPr>
        <p:spPr>
          <a:xfrm>
            <a:off x="11265408" y="3730752"/>
            <a:ext cx="457200" cy="457200"/>
          </a:xfrm>
          <a:prstGeom prst="ellipse">
            <a:avLst/>
          </a:prstGeom>
          <a:solidFill>
            <a:srgbClr val="0B2540"/>
          </a:solidFill>
          <a:ln/>
        </p:spPr>
      </p:sp>
      <p:pic>
        <p:nvPicPr>
          <p:cNvPr id="6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75136" y="3840480"/>
            <a:ext cx="237744" cy="237744"/>
          </a:xfrm>
          <a:prstGeom prst="rect">
            <a:avLst/>
          </a:prstGeom>
        </p:spPr>
      </p:pic>
      <p:sp>
        <p:nvSpPr>
          <p:cNvPr id="68" name="Text 61"/>
          <p:cNvSpPr/>
          <p:nvPr/>
        </p:nvSpPr>
        <p:spPr>
          <a:xfrm>
            <a:off x="9829800" y="38404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250" dirty="0"/>
          </a:p>
        </p:txBody>
      </p:sp>
      <p:sp>
        <p:nvSpPr>
          <p:cNvPr id="70" name="Text 6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City Complaint &amp; Service Portal</a:t>
            </a:r>
            <a:endParaRPr lang="en-US" sz="1000" dirty="0"/>
          </a:p>
        </p:txBody>
      </p:sp>
      <p:sp>
        <p:nvSpPr>
          <p:cNvPr id="71" name="Text 6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3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Solutions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technical challenges the team solved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502920"/>
          </a:xfrm>
          <a:prstGeom prst="rect">
            <a:avLst/>
          </a:prstGeom>
          <a:solidFill>
            <a:srgbClr val="0B254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916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577840" y="169164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110642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7E4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" y="2350008"/>
            <a:ext cx="402336" cy="402336"/>
          </a:xfrm>
          <a:prstGeom prst="ellipse">
            <a:avLst/>
          </a:prstGeom>
          <a:solidFill>
            <a:srgbClr val="F0DFA8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233" y="2446569"/>
            <a:ext cx="209215" cy="20921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53312" y="2194560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Security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577840" y="2350008"/>
            <a:ext cx="402336" cy="402336"/>
          </a:xfrm>
          <a:prstGeom prst="ellipse">
            <a:avLst/>
          </a:prstGeom>
          <a:solidFill>
            <a:srgbClr val="BFE8DE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4401" y="2446569"/>
            <a:ext cx="209215" cy="20921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126480" y="219456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JWT authentication filter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2907792"/>
            <a:ext cx="11064240" cy="713232"/>
          </a:xfrm>
          <a:prstGeom prst="rect">
            <a:avLst/>
          </a:prstGeom>
          <a:solidFill>
            <a:srgbClr val="F3F8F7"/>
          </a:solidFill>
          <a:ln w="9525">
            <a:solidFill>
              <a:srgbClr val="D7E4E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04672" y="3063240"/>
            <a:ext cx="402336" cy="402336"/>
          </a:xfrm>
          <a:prstGeom prst="ellipse">
            <a:avLst/>
          </a:prstGeom>
          <a:solidFill>
            <a:srgbClr val="F0DFA8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233" y="3159801"/>
            <a:ext cx="209215" cy="20921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53312" y="2907792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permissions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5577840" y="3063240"/>
            <a:ext cx="402336" cy="402336"/>
          </a:xfrm>
          <a:prstGeom prst="ellipse">
            <a:avLst/>
          </a:prstGeom>
          <a:solidFill>
            <a:srgbClr val="BFE8DE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4401" y="3159801"/>
            <a:ext cx="209215" cy="20921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126480" y="2907792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Spring Security roles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548640" y="3621024"/>
            <a:ext cx="110642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7E4E2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804672" y="3776472"/>
            <a:ext cx="402336" cy="402336"/>
          </a:xfrm>
          <a:prstGeom prst="ellipse">
            <a:avLst/>
          </a:prstGeom>
          <a:solidFill>
            <a:srgbClr val="F0DFA8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233" y="3873033"/>
            <a:ext cx="209215" cy="209215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353312" y="3621024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relationships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5577840" y="3776472"/>
            <a:ext cx="402336" cy="402336"/>
          </a:xfrm>
          <a:prstGeom prst="ellipse">
            <a:avLst/>
          </a:prstGeom>
          <a:solidFill>
            <a:srgbClr val="BFE8DE"/>
          </a:solidFill>
          <a:ln/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4401" y="3873033"/>
            <a:ext cx="209215" cy="209215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126480" y="3621024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JPA relationships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548640" y="4334256"/>
            <a:ext cx="11064240" cy="713232"/>
          </a:xfrm>
          <a:prstGeom prst="rect">
            <a:avLst/>
          </a:prstGeom>
          <a:solidFill>
            <a:srgbClr val="F3F8F7"/>
          </a:solidFill>
          <a:ln w="9525">
            <a:solidFill>
              <a:srgbClr val="D7E4E2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804672" y="4489704"/>
            <a:ext cx="402336" cy="402336"/>
          </a:xfrm>
          <a:prstGeom prst="ellipse">
            <a:avLst/>
          </a:prstGeom>
          <a:solidFill>
            <a:srgbClr val="F0DFA8"/>
          </a:solidFill>
          <a:ln/>
        </p:spPr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233" y="4586265"/>
            <a:ext cx="209215" cy="209215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353312" y="4334256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API communication</a:t>
            </a:r>
            <a:endParaRPr lang="en-US" sz="1300" dirty="0"/>
          </a:p>
        </p:txBody>
      </p:sp>
      <p:sp>
        <p:nvSpPr>
          <p:cNvPr id="32" name="Shape 23"/>
          <p:cNvSpPr/>
          <p:nvPr/>
        </p:nvSpPr>
        <p:spPr>
          <a:xfrm>
            <a:off x="5577840" y="4489704"/>
            <a:ext cx="402336" cy="402336"/>
          </a:xfrm>
          <a:prstGeom prst="ellipse">
            <a:avLst/>
          </a:prstGeom>
          <a:solidFill>
            <a:srgbClr val="BFE8DE"/>
          </a:solidFill>
          <a:ln/>
        </p:spPr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4401" y="4586265"/>
            <a:ext cx="209215" cy="209215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6126480" y="4334256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Axios interceptor</a:t>
            </a:r>
            <a:endParaRPr lang="en-US" sz="1300" dirty="0"/>
          </a:p>
        </p:txBody>
      </p:sp>
      <p:sp>
        <p:nvSpPr>
          <p:cNvPr id="35" name="Shape 25"/>
          <p:cNvSpPr/>
          <p:nvPr/>
        </p:nvSpPr>
        <p:spPr>
          <a:xfrm>
            <a:off x="548640" y="5047488"/>
            <a:ext cx="110642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7E4E2"/>
            </a:solidFill>
            <a:prstDash val="solid"/>
          </a:ln>
        </p:spPr>
      </p:sp>
      <p:sp>
        <p:nvSpPr>
          <p:cNvPr id="36" name="Shape 26"/>
          <p:cNvSpPr/>
          <p:nvPr/>
        </p:nvSpPr>
        <p:spPr>
          <a:xfrm>
            <a:off x="804672" y="5202936"/>
            <a:ext cx="402336" cy="402336"/>
          </a:xfrm>
          <a:prstGeom prst="ellipse">
            <a:avLst/>
          </a:prstGeom>
          <a:solidFill>
            <a:srgbClr val="F0DFA8"/>
          </a:solidFill>
          <a:ln/>
        </p:spPr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233" y="5299497"/>
            <a:ext cx="209215" cy="209215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1353312" y="5047488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300" dirty="0"/>
          </a:p>
        </p:txBody>
      </p:sp>
      <p:sp>
        <p:nvSpPr>
          <p:cNvPr id="39" name="Shape 28"/>
          <p:cNvSpPr/>
          <p:nvPr/>
        </p:nvSpPr>
        <p:spPr>
          <a:xfrm>
            <a:off x="5577840" y="5202936"/>
            <a:ext cx="402336" cy="402336"/>
          </a:xfrm>
          <a:prstGeom prst="ellipse">
            <a:avLst/>
          </a:prstGeom>
          <a:solidFill>
            <a:srgbClr val="BFE8DE"/>
          </a:solidFill>
          <a:ln/>
        </p:spPr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4401" y="5299497"/>
            <a:ext cx="209215" cy="209215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6126480" y="5047488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Bean Validation and Zod</a:t>
            </a:r>
            <a:endParaRPr lang="en-US" sz="1300" dirty="0"/>
          </a:p>
        </p:txBody>
      </p:sp>
      <p:sp>
        <p:nvSpPr>
          <p:cNvPr id="42" name="Text 3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City Complaint &amp; Service Portal</a:t>
            </a:r>
            <a:endParaRPr lang="en-US" sz="1000" dirty="0"/>
          </a:p>
        </p:txBody>
      </p:sp>
      <p:sp>
        <p:nvSpPr>
          <p:cNvPr id="43" name="Text 3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Improvements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94960" cy="4709160"/>
          </a:xfrm>
          <a:prstGeom prst="rect">
            <a:avLst/>
          </a:prstGeom>
          <a:solidFill>
            <a:srgbClr val="0F3049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69164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34" y="1823314"/>
            <a:ext cx="285293" cy="2852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76479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22960" y="22860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9D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Smart City Complaint &amp; Service Portal delivers: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2743200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5000"/>
              </a:lnSpc>
              <a:spcAft>
                <a:spcPts val="1600"/>
              </a:spcAft>
              <a:buSzPct val="100000"/>
              <a:buChar char="●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complaint reporting</a:t>
            </a:r>
            <a:endParaRPr lang="en-US" sz="1500" dirty="0"/>
          </a:p>
          <a:p>
            <a:pPr marL="177800" indent="-177800">
              <a:lnSpc>
                <a:spcPct val="115000"/>
              </a:lnSpc>
              <a:spcAft>
                <a:spcPts val="1600"/>
              </a:spcAft>
              <a:buSzPct val="100000"/>
              <a:buChar char="●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communication</a:t>
            </a:r>
            <a:endParaRPr lang="en-US" sz="1500" dirty="0"/>
          </a:p>
          <a:p>
            <a:pPr marL="177800" indent="-177800">
              <a:lnSpc>
                <a:spcPct val="115000"/>
              </a:lnSpc>
              <a:spcAft>
                <a:spcPts val="1600"/>
              </a:spcAft>
              <a:buSzPct val="100000"/>
              <a:buChar char="●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complaint management</a:t>
            </a:r>
            <a:endParaRPr lang="en-US" sz="1500" dirty="0"/>
          </a:p>
          <a:p>
            <a:pPr marL="177800" indent="-177800">
              <a:lnSpc>
                <a:spcPct val="115000"/>
              </a:lnSpc>
              <a:spcAft>
                <a:spcPts val="1600"/>
              </a:spcAft>
              <a:buSzPct val="100000"/>
              <a:buChar char="●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user access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217920" y="1417320"/>
            <a:ext cx="5394960" cy="47091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Shape 7"/>
          <p:cNvSpPr/>
          <p:nvPr/>
        </p:nvSpPr>
        <p:spPr>
          <a:xfrm>
            <a:off x="6492240" y="1691640"/>
            <a:ext cx="548640" cy="548640"/>
          </a:xfrm>
          <a:prstGeom prst="ellipse">
            <a:avLst/>
          </a:prstGeom>
          <a:solidFill>
            <a:srgbClr val="0B2540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3914" y="182331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176479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Improvements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6492240" y="2331720"/>
            <a:ext cx="420624" cy="420624"/>
          </a:xfrm>
          <a:prstGeom prst="ellipse">
            <a:avLst/>
          </a:prstGeom>
          <a:solidFill>
            <a:srgbClr val="0B2540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3190" y="2432670"/>
            <a:ext cx="218724" cy="2187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040880" y="2331720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492240" y="2898648"/>
            <a:ext cx="420624" cy="420624"/>
          </a:xfrm>
          <a:prstGeom prst="ellipse">
            <a:avLst/>
          </a:prstGeom>
          <a:solidFill>
            <a:srgbClr val="0B2540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3190" y="2999598"/>
            <a:ext cx="218724" cy="21872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040880" y="2898648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notifications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6492240" y="3465576"/>
            <a:ext cx="420624" cy="420624"/>
          </a:xfrm>
          <a:prstGeom prst="ellipse">
            <a:avLst/>
          </a:prstGeom>
          <a:solidFill>
            <a:srgbClr val="0B2540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3190" y="3566526"/>
            <a:ext cx="218724" cy="21872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040880" y="3465576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notifications</a:t>
            </a:r>
            <a:endParaRPr lang="en-US" sz="1400" dirty="0"/>
          </a:p>
        </p:txBody>
      </p:sp>
      <p:sp>
        <p:nvSpPr>
          <p:cNvPr id="22" name="Shape 15"/>
          <p:cNvSpPr/>
          <p:nvPr/>
        </p:nvSpPr>
        <p:spPr>
          <a:xfrm>
            <a:off x="6492240" y="4032504"/>
            <a:ext cx="420624" cy="420624"/>
          </a:xfrm>
          <a:prstGeom prst="ellipse">
            <a:avLst/>
          </a:prstGeom>
          <a:solidFill>
            <a:srgbClr val="0B2540"/>
          </a:solidFill>
          <a:ln/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93190" y="4133454"/>
            <a:ext cx="218724" cy="218724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7040880" y="4032504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integration</a:t>
            </a:r>
            <a:endParaRPr lang="en-US" sz="1400" dirty="0"/>
          </a:p>
        </p:txBody>
      </p:sp>
      <p:sp>
        <p:nvSpPr>
          <p:cNvPr id="25" name="Shape 17"/>
          <p:cNvSpPr/>
          <p:nvPr/>
        </p:nvSpPr>
        <p:spPr>
          <a:xfrm>
            <a:off x="6492240" y="4599432"/>
            <a:ext cx="420624" cy="420624"/>
          </a:xfrm>
          <a:prstGeom prst="ellipse">
            <a:avLst/>
          </a:prstGeom>
          <a:solidFill>
            <a:srgbClr val="0B2540"/>
          </a:solidFill>
          <a:ln/>
        </p:spPr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3190" y="4700382"/>
            <a:ext cx="218724" cy="218724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7040880" y="4599432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notifications</a:t>
            </a:r>
            <a:endParaRPr lang="en-US" sz="1400" dirty="0"/>
          </a:p>
        </p:txBody>
      </p:sp>
      <p:sp>
        <p:nvSpPr>
          <p:cNvPr id="28" name="Text 1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C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City Complaint &amp; Service Portal</a:t>
            </a:r>
            <a:endParaRPr lang="en-US" sz="1000" dirty="0"/>
          </a:p>
        </p:txBody>
      </p:sp>
      <p:sp>
        <p:nvSpPr>
          <p:cNvPr id="29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C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2717</TotalTime>
  <Words>572</Words>
  <Application>Microsoft Office PowerPoint</Application>
  <PresentationFormat>Widescreen</PresentationFormat>
  <Paragraphs>189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cabdiwasacabdiqaadir@gmail.com</cp:lastModifiedBy>
  <cp:revision>3</cp:revision>
  <dcterms:created xsi:type="dcterms:W3CDTF">2026-07-18T15:59:09Z</dcterms:created>
  <dcterms:modified xsi:type="dcterms:W3CDTF">2026-07-20T15:02:18Z</dcterms:modified>
</cp:coreProperties>
</file>